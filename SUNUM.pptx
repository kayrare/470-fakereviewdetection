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7" r:id="rId10"/>
    <p:sldId id="263" r:id="rId11"/>
    <p:sldId id="266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5710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4968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391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8151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1125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5731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55308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116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5918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4577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238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9F47E-4FC3-4EE8-8007-8E58FAEDE401}" type="datetimeFigureOut">
              <a:rPr lang="tr-TR" smtClean="0"/>
              <a:t>30.07.2025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E06E61F-8FCD-4A4A-8DDD-134B907E58AA}" type="slidenum">
              <a:rPr lang="tr-TR" smtClean="0"/>
              <a:t>‹#›</a:t>
            </a:fld>
            <a:endParaRPr lang="tr-TR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6523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lexanderstephens440/fake-reviews-amazon/data" TargetMode="External"/><Relationship Id="rId2" Type="http://schemas.openxmlformats.org/officeDocument/2006/relationships/hyperlink" Target="https://www.kaggle.com/datasets/mexwell/fake-reviews-datase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0FB7C-9B40-A612-1F86-9DA5B9E8E6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tr-TR" dirty="0"/>
              <a:t>FAKE REVIEW DETECTION WITH 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80ACA1-F563-9938-8746-5C5E3ADF2C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tr-TR" dirty="0"/>
              <a:t>BERŞAN KAYRA KORKMAZ</a:t>
            </a:r>
          </a:p>
          <a:p>
            <a:r>
              <a:rPr lang="tr-TR" dirty="0"/>
              <a:t>211101062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38772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F9423-828A-7AB4-89A1-48D16B66C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Proje amacı ve problemi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47147F0-75B0-4FE7-B214-795C91CEFD6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51579" y="3279373"/>
            <a:ext cx="8061822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Gerçek ve sahte kullanıcı yorumlarının otomatik tespiti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Amacımız, farklı makine öğrenmesi ve derin öğrenme yöntemleriyle iki farklı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veri setinde sahte inceleme ayrımının başarımını ölçmek</a:t>
            </a:r>
          </a:p>
        </p:txBody>
      </p:sp>
    </p:spTree>
    <p:extLst>
      <p:ext uri="{BB962C8B-B14F-4D97-AF65-F5344CB8AC3E}">
        <p14:creationId xmlns:p14="http://schemas.microsoft.com/office/powerpoint/2010/main" val="780350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EA971-5F21-A19F-3DA7-3CDC78C5E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1F16D-2BE3-65F1-492C-B058412F2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tr-TR" b="1" dirty="0"/>
              <a:t>3. Kullanılan Veri Setleri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b="1" dirty="0"/>
              <a:t>Fake Reviews Dataset 1</a:t>
            </a:r>
            <a:endParaRPr lang="tr-T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Kaynak: </a:t>
            </a:r>
            <a:r>
              <a:rPr lang="tr-TR" dirty="0">
                <a:hlinkClick r:id="rId2"/>
              </a:rPr>
              <a:t>Kaggle – Mexwell</a:t>
            </a:r>
            <a:endParaRPr lang="tr-T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Özellikler: review (text), label (0 = Fake, 1 = Real)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Satır sayısı: 20.000+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b="1" dirty="0"/>
              <a:t>Fake Reviews Dataset 2</a:t>
            </a:r>
            <a:endParaRPr lang="tr-T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Kaynak: </a:t>
            </a:r>
            <a:r>
              <a:rPr lang="tr-TR" dirty="0">
                <a:hlinkClick r:id="rId3"/>
              </a:rPr>
              <a:t>Kaggle – Alexander Stephens</a:t>
            </a:r>
            <a:endParaRPr lang="tr-T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Özellikler: reviewText (text), label (0 = Fake, 1 = Real)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Satır sayısı: 35.000+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359709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D1163-297E-59F7-3AC1-D103AD6B1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4. </a:t>
            </a:r>
            <a:r>
              <a:rPr lang="tr-TR" b="1" dirty="0"/>
              <a:t>Yöntem ve Pipeline</a:t>
            </a:r>
            <a:endParaRPr lang="tr-T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4166BC1-47CB-1254-88E7-92867A3ECA2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Veri temizleme ve ön işleme (lowercase, stopword, gereksiz karakter temizliği)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Özellik çıkarımı: TF-IDF vektörizasyonu (max_features grid-search ile optimize edildi)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Eğitim/test ayırma (%80 eğitim, %20 test)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Modeller: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Naive Bayes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SVM (Linear)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MLPClassifier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LightGBM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tr-TR" altLang="tr-T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(Yöntem 2: LSTM – derin öğrenme)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tr-TR" altLang="tr-T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8952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55B86-792D-9658-312E-DEB408D2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5. </a:t>
            </a:r>
            <a:r>
              <a:rPr lang="tr-TR" b="1" dirty="0"/>
              <a:t>Hiperparametre Optimizasyonu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2F2AC-62DE-F9E0-EB0B-BF041B1155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GridSearchCV ile her model için en iyi parametreler seçildi: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SVM: C [0.1, 1, 10]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MLP: hidden_layer_sizes [(64,), (128,)], alpha [0.0001, 0.001]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LightGBM: num_leaves [31, 50], max_depth [-1, 10]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Naive Bayes: alpha [0.1, 0.5, 1.0]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TF-IDF: max_features [500, 1000, 2000, 5000]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LSTM için: Dropout ve BatchNormalization kullanıldı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126910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9ED0C-0D26-DD41-9697-5331EFF5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6. </a:t>
            </a:r>
            <a:r>
              <a:rPr lang="tr-TR" b="1" dirty="0"/>
              <a:t>Test Sonuçları ve Karşılaştırmalı Tablo(DATASET-1)</a:t>
            </a:r>
            <a:endParaRPr lang="tr-TR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A1C7E12-A4F1-0745-8B90-371AE8EFE5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005" y="1853754"/>
            <a:ext cx="3666013" cy="4199727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B2A81C-5CE2-F23C-17EC-94E19CE17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9390" y="1853754"/>
            <a:ext cx="4512610" cy="4237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496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7711F-8193-9F1F-C28E-2645B5190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7. </a:t>
            </a:r>
            <a:r>
              <a:rPr lang="tr-TR" b="1" dirty="0"/>
              <a:t>Test Sonuçları ve Karşılaştırmalı Tablo(DATASET-1Yöntem2)</a:t>
            </a:r>
            <a:endParaRPr lang="tr-TR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2535ABB-78E3-C8A3-93A1-878799FB7E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98839" y="2251587"/>
            <a:ext cx="4885145" cy="3411793"/>
          </a:xfrm>
        </p:spPr>
      </p:pic>
    </p:spTree>
    <p:extLst>
      <p:ext uri="{BB962C8B-B14F-4D97-AF65-F5344CB8AC3E}">
        <p14:creationId xmlns:p14="http://schemas.microsoft.com/office/powerpoint/2010/main" val="3383610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24EE7-3D5B-54D1-13CB-406AE97C2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2921" y="304919"/>
            <a:ext cx="9603275" cy="1049235"/>
          </a:xfrm>
        </p:spPr>
        <p:txBody>
          <a:bodyPr/>
          <a:lstStyle/>
          <a:p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637B1-58E8-350B-103C-CD3E05F43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2921" y="305038"/>
            <a:ext cx="9603275" cy="3450613"/>
          </a:xfrm>
        </p:spPr>
        <p:txBody>
          <a:bodyPr>
            <a:normAutofit fontScale="25000" lnSpcReduction="20000"/>
          </a:bodyPr>
          <a:lstStyle/>
          <a:p>
            <a:r>
              <a:rPr lang="tr-TR" sz="4800" b="1" dirty="0"/>
              <a:t>1. En Başarılı Model - LightGBM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sz="4800" b="1" dirty="0"/>
              <a:t>Accuracy: 0.8974</a:t>
            </a:r>
            <a:r>
              <a:rPr lang="tr-TR" sz="4800" dirty="0"/>
              <a:t>, F1: </a:t>
            </a:r>
            <a:r>
              <a:rPr lang="tr-TR" sz="4800" b="1" dirty="0"/>
              <a:t>0.9</a:t>
            </a:r>
            <a:endParaRPr lang="tr-TR" sz="4800" dirty="0"/>
          </a:p>
          <a:p>
            <a:pPr>
              <a:buFont typeface="Arial" panose="020B0604020202020204" pitchFamily="34" charset="0"/>
              <a:buChar char="•"/>
            </a:pPr>
            <a:r>
              <a:rPr lang="tr-TR" sz="4800" dirty="0"/>
              <a:t>Hem doğruluk (accuracy) hem de F1 skorunda en yüksek değeri LightGBM verdi.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sz="4800" b="1" dirty="0"/>
              <a:t>Dengeli precision-recall oranları</a:t>
            </a:r>
            <a:r>
              <a:rPr lang="tr-TR" sz="4800" dirty="0"/>
              <a:t> var: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4800" dirty="0"/>
              <a:t>Sınıf 0: precision=0.9132, recall=0.8769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4800" dirty="0"/>
              <a:t>Sınıf 1: precision=0.8838, recall=0.9177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sz="4800" b="1" dirty="0"/>
              <a:t>Yorum:</a:t>
            </a:r>
            <a:r>
              <a:rPr lang="tr-TR" sz="4800" dirty="0"/>
              <a:t> Hem sahte hem orijinal yorumları iyi ayırt ediyor. Özellikle sahte yorumları yüksek başarıyla (recall=0.9177) yakalıyor. Bu, sistemin sahte yorumları tespit etmede güçlü olduğunu gösteriyor.</a:t>
            </a:r>
          </a:p>
          <a:p>
            <a:r>
              <a:rPr lang="tr-TR" sz="4800" b="1" dirty="0"/>
              <a:t>2. SVM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sz="4800" b="1" dirty="0"/>
              <a:t>Accuracy: 0.8930</a:t>
            </a:r>
            <a:r>
              <a:rPr lang="tr-TR" sz="4800" dirty="0"/>
              <a:t>, F1: </a:t>
            </a:r>
            <a:r>
              <a:rPr lang="tr-TR" sz="4800" b="1" dirty="0"/>
              <a:t>0.8952</a:t>
            </a:r>
            <a:endParaRPr lang="tr-TR" sz="4800" dirty="0"/>
          </a:p>
          <a:p>
            <a:pPr>
              <a:buFont typeface="Arial" panose="020B0604020202020204" pitchFamily="34" charset="0"/>
              <a:buChar char="•"/>
            </a:pPr>
            <a:r>
              <a:rPr lang="tr-TR" sz="4800" dirty="0"/>
              <a:t>Sınıf 1 için </a:t>
            </a:r>
            <a:r>
              <a:rPr lang="tr-TR" sz="4800" b="1" dirty="0"/>
              <a:t>yüksek recall (0.9017)</a:t>
            </a:r>
            <a:r>
              <a:rPr lang="tr-TR" sz="4800" dirty="0"/>
              <a:t> ile sahte yorumları kaçırmıyor.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sz="4800" dirty="0"/>
              <a:t>Fakat LightGBM'e göre bir tık geride.</a:t>
            </a:r>
          </a:p>
          <a:p>
            <a:r>
              <a:rPr lang="tr-TR" sz="4800" b="1" dirty="0"/>
              <a:t>3. Naive Bayes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sz="4800" dirty="0"/>
              <a:t>Accuracy: </a:t>
            </a:r>
            <a:r>
              <a:rPr lang="tr-TR" sz="4800" b="1" dirty="0"/>
              <a:t>0.8281</a:t>
            </a:r>
            <a:r>
              <a:rPr lang="tr-TR" sz="4800" dirty="0"/>
              <a:t>, F1: </a:t>
            </a:r>
            <a:r>
              <a:rPr lang="tr-TR" sz="4800" b="1" dirty="0"/>
              <a:t>0.8257</a:t>
            </a:r>
            <a:endParaRPr lang="tr-TR" sz="4800" dirty="0"/>
          </a:p>
          <a:p>
            <a:pPr>
              <a:buFont typeface="Arial" panose="020B0604020202020204" pitchFamily="34" charset="0"/>
              <a:buChar char="•"/>
            </a:pPr>
            <a:r>
              <a:rPr lang="tr-TR" sz="4800" dirty="0"/>
              <a:t>En düşük performansa sahip. Özellikle recall değeri sınıf 1 için düşük (0.8071).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sz="4800" b="1" dirty="0"/>
              <a:t>Yorum:</a:t>
            </a:r>
            <a:r>
              <a:rPr lang="tr-TR" sz="4800" dirty="0"/>
              <a:t> Basit bir model, büyük veri setlerinde genellikle yetersiz kalır.</a:t>
            </a:r>
          </a:p>
          <a:p>
            <a:r>
              <a:rPr lang="tr-TR" sz="4800" b="1" dirty="0"/>
              <a:t>4. MLP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sz="4800" dirty="0"/>
              <a:t>Accuracy: </a:t>
            </a:r>
            <a:r>
              <a:rPr lang="tr-TR" sz="4800" b="1" dirty="0"/>
              <a:t>0.8308</a:t>
            </a:r>
            <a:r>
              <a:rPr lang="tr-TR" sz="4800" dirty="0"/>
              <a:t>, F1: </a:t>
            </a:r>
            <a:r>
              <a:rPr lang="tr-TR" sz="4800" b="1" dirty="0"/>
              <a:t>0.8125</a:t>
            </a:r>
            <a:endParaRPr lang="tr-TR" sz="4800" dirty="0"/>
          </a:p>
          <a:p>
            <a:pPr>
              <a:buFont typeface="Arial" panose="020B0604020202020204" pitchFamily="34" charset="0"/>
              <a:buChar char="•"/>
            </a:pPr>
            <a:r>
              <a:rPr lang="tr-TR" sz="4800" dirty="0"/>
              <a:t>Sınıf 1'de recall düşük: 0.7322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sz="4800" b="1" dirty="0"/>
              <a:t>Yorum:</a:t>
            </a:r>
            <a:r>
              <a:rPr lang="tr-TR" sz="4800" dirty="0"/>
              <a:t> MLP'nin daha fazla veri veya daha fazla katmanla iyileştirilebilir olduğunu gösterebilir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597987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45F4C-E697-4109-128B-20373D6DC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7. </a:t>
            </a:r>
            <a:r>
              <a:rPr lang="tr-TR" b="1" dirty="0"/>
              <a:t>Test Sonuçları ve Karşılaştırmalı Tablo(DATASET-11)</a:t>
            </a:r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8779C-421B-3BFB-29F7-628065996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58459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47676-C309-59AB-A1AB-3905CD960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E7F61-953B-CB89-FE9B-AF7DCD9E8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tr-TR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8C1991D-2CCC-DBA3-3472-2F0824296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3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73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1D409-52EE-75E8-2E94-25B5D049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7. </a:t>
            </a:r>
            <a:r>
              <a:rPr lang="tr-TR" b="1" dirty="0"/>
              <a:t>Test Sonuçları ve Karşılaştırmalı Tablo(DATASET-11)Yöntem 2</a:t>
            </a:r>
            <a:endParaRPr lang="tr-TR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EAA9FB8-4EA8-E15F-92F6-E9F061646F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09135" y="2526890"/>
            <a:ext cx="7257197" cy="2689237"/>
          </a:xfrm>
        </p:spPr>
      </p:pic>
    </p:spTree>
    <p:extLst>
      <p:ext uri="{BB962C8B-B14F-4D97-AF65-F5344CB8AC3E}">
        <p14:creationId xmlns:p14="http://schemas.microsoft.com/office/powerpoint/2010/main" val="329285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E5F1F-41C9-D29C-9AC9-1763B61B8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177BE-97C0-C143-B984-0D3670A88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b="1" dirty="0"/>
              <a:t>10. Tartışma ve Değerlendirme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LightGBM/SVM modelleri genelde en iyi sonuçları verdi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Veri büyüklüğü ve dağılımı, eğitim süresi ve skorlar üzerinde doğrudan etkili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LSTM daha fazla veriyle daha güçlü hale getirilebilir</a:t>
            </a:r>
          </a:p>
          <a:p>
            <a:pPr marL="0" indent="0">
              <a:buNone/>
            </a:pP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0407469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E743D-3B10-C0C7-F59D-D25F38E31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2C5CA-642F-A5B7-E74D-97496E222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b="1" dirty="0"/>
              <a:t>11. Sonuç ve İleride Yapılacaklar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Klasik ve derin öğrenme yöntemleri ile sahte inceleme başarıyla tespit edildi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tr-TR" dirty="0"/>
              <a:t>Gelecekte: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Daha büyük ve farklı veri setleri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BERT/transformer tabanlı modeller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dirty="0"/>
              <a:t>Canlı demo ve açıklanabilirlik analizleri (SHAP, LIME)</a:t>
            </a:r>
          </a:p>
          <a:p>
            <a:pPr lvl="1"/>
            <a:r>
              <a:rPr lang="tr-TR" dirty="0"/>
              <a:t>Bir uygulama veya agent haline getirmek için UI ve Frameworklere uyum.</a:t>
            </a:r>
          </a:p>
        </p:txBody>
      </p:sp>
    </p:spTree>
    <p:extLst>
      <p:ext uri="{BB962C8B-B14F-4D97-AF65-F5344CB8AC3E}">
        <p14:creationId xmlns:p14="http://schemas.microsoft.com/office/powerpoint/2010/main" val="78458273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1314</TotalTime>
  <Words>576</Words>
  <Application>Microsoft Office PowerPoint</Application>
  <PresentationFormat>Widescreen</PresentationFormat>
  <Paragraphs>68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Gill Sans MT</vt:lpstr>
      <vt:lpstr>Gallery</vt:lpstr>
      <vt:lpstr>FAKE REVIEW DETECTION WITH MACHINE LEARNING</vt:lpstr>
      <vt:lpstr>Proje amacı ve problemi</vt:lpstr>
      <vt:lpstr>PowerPoint Presentation</vt:lpstr>
      <vt:lpstr>4. Yöntem ve Pipeline</vt:lpstr>
      <vt:lpstr>5. Hiperparametre Optimizasyonu</vt:lpstr>
      <vt:lpstr>6. Test Sonuçları ve Karşılaştırmalı Tablo(DATASET-1)</vt:lpstr>
      <vt:lpstr>7. Test Sonuçları ve Karşılaştırmalı Tablo(DATASET-1Yöntem2)</vt:lpstr>
      <vt:lpstr>PowerPoint Presentation</vt:lpstr>
      <vt:lpstr>7. Test Sonuçları ve Karşılaştırmalı Tablo(DATASET-11)</vt:lpstr>
      <vt:lpstr>PowerPoint Presentation</vt:lpstr>
      <vt:lpstr>7. Test Sonuçları ve Karşılaştırmalı Tablo(DATASET-11)Yöntem 2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Berşan Kayra Korkmaz</dc:creator>
  <cp:lastModifiedBy>Berşan Kayra Korkmaz</cp:lastModifiedBy>
  <cp:revision>3</cp:revision>
  <dcterms:created xsi:type="dcterms:W3CDTF">2025-07-28T17:10:54Z</dcterms:created>
  <dcterms:modified xsi:type="dcterms:W3CDTF">2025-07-31T07:53:19Z</dcterms:modified>
</cp:coreProperties>
</file>